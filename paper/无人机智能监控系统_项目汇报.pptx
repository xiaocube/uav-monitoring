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FFFFFF"/>
                </a:solidFill>
                <a:latin typeface="黑体"/>
              </a:rPr>
              <a:t>无人机智能监控系统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400">
                <a:solidFill>
                  <a:srgbClr val="F0F5FA"/>
                </a:solidFill>
                <a:latin typeface="宋体"/>
              </a:rPr>
              <a:t>基于机器视觉的低空安防解决方案</a:t>
            </a:r>
          </a:p>
          <a:p>
            <a:pPr algn="ctr"/>
          </a:p>
          <a:p>
            <a:pPr algn="ctr"/>
            <a:r>
              <a:rPr sz="2400">
                <a:solidFill>
                  <a:srgbClr val="F0F5FA"/>
                </a:solidFill>
                <a:latin typeface="宋体"/>
              </a:rPr>
              <a:t>项目研究汇报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42850"/>
                </a:solidFill>
                <a:latin typeface="黑体"/>
              </a:rPr>
              <a:t>汇报提纲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>
                <a:solidFill>
                  <a:srgbClr val="142850"/>
                </a:solidFill>
                <a:latin typeface="宋体"/>
              </a:defRPr>
            </a:pPr>
            <a:r>
              <a:t>1. 项目背景与研究意义</a:t>
            </a:r>
          </a:p>
          <a:p>
            <a:pPr>
              <a:spcAft>
                <a:spcPts val="1200"/>
              </a:spcAft>
              <a:defRPr sz="2800">
                <a:solidFill>
                  <a:srgbClr val="142850"/>
                </a:solidFill>
                <a:latin typeface="宋体"/>
              </a:defRPr>
            </a:pPr>
            <a:r>
              <a:t>2. 技术方案与系统架构</a:t>
            </a:r>
          </a:p>
          <a:p>
            <a:pPr>
              <a:spcAft>
                <a:spcPts val="1200"/>
              </a:spcAft>
              <a:defRPr sz="2800">
                <a:solidFill>
                  <a:srgbClr val="142850"/>
                </a:solidFill>
                <a:latin typeface="宋体"/>
              </a:defRPr>
            </a:pPr>
            <a:r>
              <a:t>3. 数据集构建与模型训练</a:t>
            </a:r>
          </a:p>
          <a:p>
            <a:pPr>
              <a:spcAft>
                <a:spcPts val="1200"/>
              </a:spcAft>
              <a:defRPr sz="2800">
                <a:solidFill>
                  <a:srgbClr val="142850"/>
                </a:solidFill>
                <a:latin typeface="宋体"/>
              </a:defRPr>
            </a:pPr>
            <a:r>
              <a:t>4. 实验结果与性能分析</a:t>
            </a:r>
          </a:p>
          <a:p>
            <a:pPr>
              <a:spcAft>
                <a:spcPts val="1200"/>
              </a:spcAft>
              <a:defRPr sz="2800">
                <a:solidFill>
                  <a:srgbClr val="142850"/>
                </a:solidFill>
                <a:latin typeface="宋体"/>
              </a:defRPr>
            </a:pPr>
            <a:r>
              <a:t>5. 应用场景与未来展望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42850"/>
                </a:solidFill>
                <a:latin typeface="黑体"/>
              </a:rPr>
              <a:t>项目背景与研究意义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500"/>
              </a:spcAft>
              <a:defRPr sz="2400">
                <a:solidFill>
                  <a:srgbClr val="142850"/>
                </a:solidFill>
                <a:latin typeface="宋体"/>
              </a:defRPr>
            </a:pPr>
            <a:r>
              <a:t>✈ 无人机技术快速发展，应用场景日益广泛</a:t>
            </a:r>
          </a:p>
          <a:p>
            <a:pPr>
              <a:spcAft>
                <a:spcPts val="1500"/>
              </a:spcAft>
              <a:defRPr sz="2400">
                <a:solidFill>
                  <a:srgbClr val="142850"/>
                </a:solidFill>
                <a:latin typeface="宋体"/>
              </a:defRPr>
            </a:pPr>
            <a:r>
              <a:t>⚠ "黑飞"现象严重威胁低空安全</a:t>
            </a:r>
          </a:p>
          <a:p>
            <a:pPr>
              <a:spcAft>
                <a:spcPts val="1500"/>
              </a:spcAft>
              <a:defRPr sz="2400">
                <a:solidFill>
                  <a:srgbClr val="142850"/>
                </a:solidFill>
                <a:latin typeface="宋体"/>
              </a:defRPr>
            </a:pPr>
            <a:r>
              <a:t>🎯 传统雷达监控成本高、误报率高</a:t>
            </a:r>
          </a:p>
          <a:p>
            <a:pPr>
              <a:spcAft>
                <a:spcPts val="1500"/>
              </a:spcAft>
              <a:defRPr sz="2400">
                <a:solidFill>
                  <a:srgbClr val="142850"/>
                </a:solidFill>
                <a:latin typeface="宋体"/>
              </a:defRPr>
            </a:pPr>
            <a:r>
              <a:t>💡 机器视觉提供低成本、高精度的解决方案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42850"/>
                </a:solidFill>
                <a:latin typeface="黑体"/>
              </a:defRPr>
            </a:pPr>
            <a:r>
              <a:t>技术方案与系统架构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142850"/>
                </a:solidFill>
                <a:latin typeface="宋体"/>
              </a:defRPr>
            </a:pPr>
            <a:r>
              <a:t>• YOLOv11 深度学习目标检测框架</a:t>
            </a:r>
          </a:p>
          <a:p>
            <a:pPr>
              <a:spcAft>
                <a:spcPts val="1000"/>
              </a:spcAft>
              <a:defRPr sz="2200">
                <a:solidFill>
                  <a:srgbClr val="142850"/>
                </a:solidFill>
                <a:latin typeface="宋体"/>
              </a:defRPr>
            </a:pPr>
            <a:r>
              <a:t>• Mosaic / Mixup 数据增强策略</a:t>
            </a:r>
          </a:p>
          <a:p>
            <a:pPr>
              <a:spcAft>
                <a:spcPts val="1000"/>
              </a:spcAft>
              <a:defRPr sz="2200">
                <a:solidFill>
                  <a:srgbClr val="142850"/>
                </a:solidFill>
                <a:latin typeface="宋体"/>
              </a:defRPr>
            </a:pPr>
            <a:r>
              <a:t>• 多尺度训练与自适应锚框机制</a:t>
            </a:r>
          </a:p>
          <a:p>
            <a:pPr>
              <a:spcAft>
                <a:spcPts val="1000"/>
              </a:spcAft>
              <a:defRPr sz="2200">
                <a:solidFill>
                  <a:srgbClr val="142850"/>
                </a:solidFill>
                <a:latin typeface="宋体"/>
              </a:defRPr>
            </a:pPr>
            <a:r>
              <a:t>• 切片推理提升小目标检测精度</a:t>
            </a:r>
          </a:p>
          <a:p>
            <a:pPr>
              <a:spcAft>
                <a:spcPts val="1000"/>
              </a:spcAft>
              <a:defRPr sz="2200">
                <a:solidFill>
                  <a:srgbClr val="142850"/>
                </a:solidFill>
                <a:latin typeface="宋体"/>
              </a:defRPr>
            </a:pPr>
            <a:r>
              <a:t>• ONNX 模型量化压缩部署</a:t>
            </a:r>
          </a:p>
          <a:p>
            <a:pPr>
              <a:spcAft>
                <a:spcPts val="1000"/>
              </a:spcAft>
              <a:defRPr sz="2200">
                <a:solidFill>
                  <a:srgbClr val="142850"/>
                </a:solidFill>
                <a:latin typeface="宋体"/>
              </a:defRPr>
            </a:pPr>
            <a:r>
              <a:t>• MPS 加速推理引擎</a:t>
            </a:r>
          </a:p>
        </p:txBody>
      </p:sp>
      <p:pic>
        <p:nvPicPr>
          <p:cNvPr id="5" name="Picture 4" descr="val_batch0_p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17680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50292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808080"/>
                </a:solidFill>
                <a:latin typeface="宋体"/>
              </a:defRPr>
            </a:pPr>
            <a:r>
              <a:t>YOLOv11 实时检测效果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42850"/>
                </a:solidFill>
                <a:latin typeface="黑体"/>
              </a:defRPr>
            </a:pPr>
            <a:r>
              <a:t>数据集构建</a:t>
            </a:r>
          </a:p>
        </p:txBody>
      </p:sp>
      <p:pic>
        <p:nvPicPr>
          <p:cNvPr id="4" name="Picture 3" descr="0001_jpg.rf.U75jAmVMl1zFe3OhS2C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1625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142850"/>
                </a:solidFill>
                <a:latin typeface="宋体"/>
              </a:defRPr>
            </a:pPr>
            <a:r>
              <a:t>📊 总样本量：8,318 张</a:t>
            </a:r>
          </a:p>
          <a:p>
            <a:pPr>
              <a:defRPr sz="2200">
                <a:solidFill>
                  <a:srgbClr val="142850"/>
                </a:solidFill>
                <a:latin typeface="宋体"/>
              </a:defRPr>
            </a:pPr>
          </a:p>
          <a:p>
            <a:pPr>
              <a:defRPr sz="2200">
                <a:solidFill>
                  <a:srgbClr val="142850"/>
                </a:solidFill>
                <a:latin typeface="宋体"/>
              </a:defRPr>
            </a:pPr>
            <a:r>
              <a:t>📁 训练集：5,821 张 (70%)</a:t>
            </a:r>
          </a:p>
          <a:p>
            <a:pPr>
              <a:defRPr sz="2200">
                <a:solidFill>
                  <a:srgbClr val="142850"/>
                </a:solidFill>
                <a:latin typeface="宋体"/>
              </a:defRPr>
            </a:pPr>
            <a:r>
              <a:t>📁 验证集：1,664 张 (20%)</a:t>
            </a:r>
          </a:p>
          <a:p>
            <a:pPr>
              <a:defRPr sz="2200">
                <a:solidFill>
                  <a:srgbClr val="142850"/>
                </a:solidFill>
                <a:latin typeface="宋体"/>
              </a:defRPr>
            </a:pPr>
            <a:r>
              <a:t>📁 测试集：833 张 (10%)</a:t>
            </a:r>
          </a:p>
          <a:p>
            <a:pPr>
              <a:defRPr sz="2200">
                <a:solidFill>
                  <a:srgbClr val="142850"/>
                </a:solidFill>
                <a:latin typeface="宋体"/>
              </a:defRPr>
            </a:pPr>
          </a:p>
          <a:p>
            <a:pPr>
              <a:defRPr sz="2200">
                <a:solidFill>
                  <a:srgbClr val="142850"/>
                </a:solidFill>
                <a:latin typeface="宋体"/>
              </a:defRPr>
            </a:pPr>
            <a:r>
              <a:t>🎯 目标类别：无人机 (1类)</a:t>
            </a:r>
          </a:p>
          <a:p>
            <a:pPr>
              <a:defRPr sz="2200">
                <a:solidFill>
                  <a:srgbClr val="142850"/>
                </a:solidFill>
                <a:latin typeface="宋体"/>
              </a:defRPr>
            </a:pPr>
          </a:p>
          <a:p>
            <a:pPr>
              <a:defRPr sz="2200">
                <a:solidFill>
                  <a:srgbClr val="142850"/>
                </a:solidFill>
                <a:latin typeface="宋体"/>
              </a:defRPr>
            </a:pPr>
            <a:r>
              <a:t>🌍 场景覆盖：户外空域、城市环境、复杂背景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42850"/>
                </a:solidFill>
                <a:latin typeface="黑体"/>
              </a:defRPr>
            </a:pPr>
            <a:r>
              <a:t>模型训练</a:t>
            </a:r>
          </a:p>
        </p:txBody>
      </p:sp>
      <p:pic>
        <p:nvPicPr>
          <p:cNvPr id="4" name="Picture 3" descr="training_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541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42850"/>
                </a:solidFill>
                <a:latin typeface="黑体"/>
              </a:defRPr>
            </a:pPr>
            <a:r>
              <a:t>实验结果与精度对比</a:t>
            </a:r>
          </a:p>
        </p:txBody>
      </p:sp>
      <p:pic>
        <p:nvPicPr>
          <p:cNvPr id="4" name="Picture 3" descr="ma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5232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42850"/>
                </a:solidFill>
                <a:latin typeface="黑体"/>
              </a:defRPr>
            </a:pPr>
            <a:r>
              <a:t>推理性能分析</a:t>
            </a:r>
          </a:p>
        </p:txBody>
      </p:sp>
      <p:pic>
        <p:nvPicPr>
          <p:cNvPr id="4" name="Picture 3" descr="inferenc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3560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42850"/>
                </a:solidFill>
                <a:latin typeface="黑体"/>
              </a:defRPr>
            </a:pPr>
            <a:r>
              <a:t>核心性能指标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783080" cy="22860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CC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000">
                <a:solidFill>
                  <a:srgbClr val="288C64"/>
                </a:solidFill>
                <a:latin typeface="宋体"/>
              </a:defRPr>
            </a:pPr>
            <a:r>
              <a:t>mAP50</a:t>
            </a:r>
          </a:p>
          <a:p>
            <a:pPr algn="ctr">
              <a:defRPr sz="4000" b="1">
                <a:solidFill>
                  <a:srgbClr val="142850"/>
                </a:solidFill>
                <a:latin typeface="黑体"/>
              </a:defRPr>
            </a:pPr>
            <a:r>
              <a:t>96.6%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645920"/>
            <a:ext cx="1783080" cy="22860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CC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000">
                <a:solidFill>
                  <a:srgbClr val="288C64"/>
                </a:solidFill>
                <a:latin typeface="宋体"/>
              </a:defRPr>
            </a:pPr>
            <a:r>
              <a:t>Precision</a:t>
            </a:r>
          </a:p>
          <a:p>
            <a:pPr algn="ctr">
              <a:defRPr sz="4000" b="1">
                <a:solidFill>
                  <a:srgbClr val="142850"/>
                </a:solidFill>
                <a:latin typeface="黑体"/>
              </a:defRPr>
            </a:pPr>
            <a:r>
              <a:t>94.9%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1783080" cy="22860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CC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000">
                <a:solidFill>
                  <a:srgbClr val="288C64"/>
                </a:solidFill>
                <a:latin typeface="宋体"/>
              </a:defRPr>
            </a:pPr>
            <a:r>
              <a:t>Recall</a:t>
            </a:r>
          </a:p>
          <a:p>
            <a:pPr algn="ctr">
              <a:defRPr sz="4000" b="1">
                <a:solidFill>
                  <a:srgbClr val="142850"/>
                </a:solidFill>
                <a:latin typeface="黑体"/>
              </a:defRPr>
            </a:pPr>
            <a:r>
              <a:t>94.9%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645920"/>
            <a:ext cx="1783080" cy="22860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CC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000">
                <a:solidFill>
                  <a:srgbClr val="288C64"/>
                </a:solidFill>
                <a:latin typeface="宋体"/>
              </a:defRPr>
            </a:pPr>
            <a:r>
              <a:t>FPS</a:t>
            </a:r>
          </a:p>
          <a:p>
            <a:pPr algn="ctr">
              <a:defRPr sz="4000" b="1">
                <a:solidFill>
                  <a:srgbClr val="142850"/>
                </a:solidFill>
                <a:latin typeface="黑体"/>
              </a:defRPr>
            </a:pPr>
            <a:r>
              <a:t>64.3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solidFill>
                  <a:srgbClr val="142850"/>
                </a:solidFill>
                <a:latin typeface="黑体"/>
              </a:defRPr>
            </a:pPr>
            <a:r>
              <a:t>应用场景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155448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CC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400" b="1">
                <a:solidFill>
                  <a:srgbClr val="288C64"/>
                </a:solidFill>
                <a:latin typeface="黑体"/>
              </a:defRPr>
            </a:pPr>
            <a:r>
              <a:t>✈ 机场安防</a:t>
            </a:r>
          </a:p>
          <a:p>
            <a:pPr algn="ctr">
              <a:defRPr sz="1800">
                <a:solidFill>
                  <a:srgbClr val="142850"/>
                </a:solidFill>
                <a:latin typeface="宋体"/>
              </a:defRPr>
            </a:pPr>
            <a:r>
              <a:t>无人机入侵检测与预警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3657600" cy="155448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CC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400" b="1">
                <a:solidFill>
                  <a:srgbClr val="288C64"/>
                </a:solidFill>
                <a:latin typeface="黑体"/>
              </a:defRPr>
            </a:pPr>
            <a:r>
              <a:t>🏛 重要场所</a:t>
            </a:r>
          </a:p>
          <a:p>
            <a:pPr algn="ctr">
              <a:defRPr sz="1800">
                <a:solidFill>
                  <a:srgbClr val="142850"/>
                </a:solidFill>
                <a:latin typeface="宋体"/>
              </a:defRPr>
            </a:pPr>
            <a:r>
              <a:t>政府机关、军事禁区监控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3657600" cy="155448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CC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400" b="1">
                <a:solidFill>
                  <a:srgbClr val="288C64"/>
                </a:solidFill>
                <a:latin typeface="黑体"/>
              </a:defRPr>
            </a:pPr>
            <a:r>
              <a:t>🎡 大型活动</a:t>
            </a:r>
          </a:p>
          <a:p>
            <a:pPr algn="ctr">
              <a:defRPr sz="1800">
                <a:solidFill>
                  <a:srgbClr val="142850"/>
                </a:solidFill>
                <a:latin typeface="宋体"/>
              </a:defRPr>
            </a:pPr>
            <a:r>
              <a:t>演唱会、体育赛事低空管控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931920"/>
            <a:ext cx="3657600" cy="155448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3CC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400" b="1">
                <a:solidFill>
                  <a:srgbClr val="288C64"/>
                </a:solidFill>
                <a:latin typeface="黑体"/>
              </a:defRPr>
            </a:pPr>
            <a:r>
              <a:t>🏭 工业厂区</a:t>
            </a:r>
          </a:p>
          <a:p>
            <a:pPr algn="ctr">
              <a:defRPr sz="1800">
                <a:solidFill>
                  <a:srgbClr val="142850"/>
                </a:solidFill>
                <a:latin typeface="宋体"/>
              </a:defRPr>
            </a:pPr>
            <a:r>
              <a:t>禁飞区无人机识别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42850"/>
                </a:solidFill>
                <a:latin typeface="黑体"/>
              </a:rP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>
                <a:solidFill>
                  <a:srgbClr val="142850"/>
                </a:solidFill>
                <a:latin typeface="宋体"/>
              </a:defRPr>
            </a:pPr>
            <a:r>
              <a:t>✅ 完成了基于YOLOv11的无人机目标检测系统</a:t>
            </a:r>
          </a:p>
          <a:p>
            <a:pPr>
              <a:spcAft>
                <a:spcPts val="1000"/>
              </a:spcAft>
              <a:defRPr sz="2400">
                <a:solidFill>
                  <a:srgbClr val="142850"/>
                </a:solidFill>
                <a:latin typeface="宋体"/>
              </a:defRPr>
            </a:pPr>
            <a:r>
              <a:t>✅ 构建了8,000+样本的无人机检测数据集</a:t>
            </a:r>
          </a:p>
          <a:p>
            <a:pPr>
              <a:spcAft>
                <a:spcPts val="1000"/>
              </a:spcAft>
              <a:defRPr sz="2400">
                <a:solidFill>
                  <a:srgbClr val="142850"/>
                </a:solidFill>
                <a:latin typeface="宋体"/>
              </a:defRPr>
            </a:pPr>
            <a:r>
              <a:t>✅ 实现了96.6%的mAP50检测精度</a:t>
            </a:r>
          </a:p>
          <a:p>
            <a:pPr>
              <a:spcAft>
                <a:spcPts val="1000"/>
              </a:spcAft>
              <a:defRPr sz="2400">
                <a:solidFill>
                  <a:srgbClr val="142850"/>
                </a:solidFill>
                <a:latin typeface="宋体"/>
              </a:defRPr>
            </a:pPr>
            <a:r>
              <a:t>✅ 达到了64 FPS的实时推理速度</a:t>
            </a:r>
          </a:p>
          <a:p>
            <a:pPr>
              <a:spcAft>
                <a:spcPts val="1000"/>
              </a:spcAft>
              <a:defRPr sz="2400">
                <a:solidFill>
                  <a:srgbClr val="142850"/>
                </a:solidFill>
                <a:latin typeface="宋体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142850"/>
                </a:solidFill>
                <a:latin typeface="宋体"/>
              </a:defRPr>
            </a:pPr>
            <a:r>
              <a:t>🔮 轻量化嵌入式部署</a:t>
            </a:r>
          </a:p>
          <a:p>
            <a:pPr>
              <a:spcAft>
                <a:spcPts val="1000"/>
              </a:spcAft>
              <a:defRPr sz="2400">
                <a:solidFill>
                  <a:srgbClr val="142850"/>
                </a:solidFill>
                <a:latin typeface="宋体"/>
              </a:defRPr>
            </a:pPr>
            <a:r>
              <a:t>🔮 多目标持续跟踪</a:t>
            </a:r>
          </a:p>
          <a:p>
            <a:pPr>
              <a:spcAft>
                <a:spcPts val="1000"/>
              </a:spcAft>
              <a:defRPr sz="2400">
                <a:solidFill>
                  <a:srgbClr val="142850"/>
                </a:solidFill>
                <a:latin typeface="宋体"/>
              </a:defRPr>
            </a:pPr>
            <a:r>
              <a:t>🔮 复杂空域抗干扰识别</a:t>
            </a:r>
          </a:p>
          <a:p>
            <a:pPr>
              <a:spcAft>
                <a:spcPts val="1000"/>
              </a:spcAft>
              <a:defRPr sz="2400">
                <a:solidFill>
                  <a:srgbClr val="142850"/>
                </a:solidFill>
                <a:latin typeface="宋体"/>
              </a:defRPr>
            </a:pPr>
            <a:r>
              <a:t>🔮 新型无人机机型适配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800" b="1">
                <a:solidFill>
                  <a:srgbClr val="FFFFFF"/>
                </a:solidFill>
                <a:latin typeface="黑体"/>
              </a:rPr>
              <a:t>谢谢观看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800">
                <a:solidFill>
                  <a:srgbClr val="F0F5FA"/>
                </a:solidFill>
                <a:latin typeface="宋体"/>
              </a:rPr>
              <a:t>欢迎交流与指导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